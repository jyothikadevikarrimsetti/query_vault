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103120"/>
            <a:ext cx="39319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3B82F6"/>
                </a:solidFill>
                <a:latin typeface="Calibri"/>
              </a:defRPr>
            </a:pPr>
            <a:r>
              <a:t>QUERYVAULT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Database Security</a:t>
            </a:r>
            <a:br/>
            <a:r>
              <a:t>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3C5FD"/>
                </a:solidFill>
                <a:latin typeface="Calibri"/>
              </a:defRPr>
            </a:pPr>
            <a:r>
              <a:t>Zero-Trust Protection for Every AI-Generated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Apollo Hospitals  |  AI Query Security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303520"/>
            <a:ext cx="100584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Meets Sensitive Data: A New Attack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9260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EF4444"/>
                </a:solidFill>
                <a:latin typeface="Calibri"/>
              </a:defRPr>
            </a:pPr>
            <a:r>
              <a:t>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LLM Hallucinations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AI models fabricate table &amp; column</a:t>
            </a:r>
            <a:br/>
            <a:r>
              <a:t>names, generating invalid or</a:t>
            </a:r>
            <a:br/>
            <a:r>
              <a:t>unauthorized SQL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291840" cy="29260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59E0B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Prompt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Attackers embed malicious instructions</a:t>
            </a:r>
            <a:br/>
            <a:r>
              <a:t>to manipulate AI into accessing</a:t>
            </a:r>
            <a:br/>
            <a:r>
              <a:t>restricted data or dropping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291840" cy="29260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3B82F6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Regulatory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HIPAA, GDPR, EU AI Act, SOX</a:t>
            </a:r>
            <a:br/>
            <a:r>
              <a:t>demand auditable, controlled AI</a:t>
            </a:r>
            <a:br/>
            <a:r>
              <a:t>access to patient &amp; financial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$10.93M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15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Avg. healthcare</a:t>
            </a:r>
            <a:br/>
            <a:r>
              <a:t>breach cost (2023)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725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715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Healthcare breaches</a:t>
            </a:r>
            <a:br/>
            <a:r>
              <a:t>reported in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88%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715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Of breaches involve</a:t>
            </a:r>
            <a:br/>
            <a:r>
              <a:t>human error +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$1.76M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715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Average savings with</a:t>
            </a:r>
            <a:br/>
            <a:r>
              <a:t>AI security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QueryVault: Zero-Trust AI Query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0">
                <a:solidFill>
                  <a:srgbClr val="93C5FD"/>
                </a:solidFill>
                <a:latin typeface="Calibri"/>
              </a:defRPr>
            </a:pPr>
            <a:r>
              <a:t>A security orchestration layer that wraps around any NL-to-SQL AI pipeline,</a:t>
            </a:r>
            <a:br/>
            <a:r>
              <a:t>enforcing identity, access control, and compliance on every single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37160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User Question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74520" y="3520440"/>
            <a:ext cx="228600" cy="914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03120" y="3017520"/>
            <a:ext cx="137160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Identity &amp;</a:t>
            </a:r>
            <a:br/>
            <a:r>
              <a:t>Threat Scan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20440" y="3520440"/>
            <a:ext cx="228600" cy="914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9039" y="3017520"/>
            <a:ext cx="137160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Context</a:t>
            </a:r>
            <a:br/>
            <a:r>
              <a:t>Minimization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66359" y="3520440"/>
            <a:ext cx="228600" cy="914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3017520"/>
            <a:ext cx="137160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AI Model</a:t>
            </a:r>
            <a:br/>
            <a:r>
              <a:t>(XenSQL)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12280" y="3520440"/>
            <a:ext cx="228600" cy="914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0" y="3017520"/>
            <a:ext cx="137160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SQL</a:t>
            </a:r>
            <a:br/>
            <a:r>
              <a:t>Validation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58200" y="3520440"/>
            <a:ext cx="228600" cy="914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0" y="3017520"/>
            <a:ext cx="137160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Secure</a:t>
            </a:r>
            <a:br/>
            <a:r>
              <a:t>Execution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04120" y="3520440"/>
            <a:ext cx="228600" cy="914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0" y="3017520"/>
            <a:ext cx="137160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C5FD"/>
                </a:solidFill>
                <a:latin typeface="Calibri"/>
              </a:defRPr>
            </a:pPr>
            <a:r>
              <a:t>Audit &amp;</a:t>
            </a:r>
            <a:br/>
            <a: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  Every query inspected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5 sequential security zones, zero exceptions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  Least-privilege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only sees schema the user's role permits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  Tamper-proof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SHA-256 hash-chain links every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  7 compliance frameworks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HIPAA, GDPR, EU AI Act, SOX and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5-Zone Security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280160" cy="7772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ZONE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Identity verification, injection</a:t>
            </a:r>
            <a:br/>
            <a:r>
              <a:t>scanning, behavioral analysis,</a:t>
            </a:r>
            <a:br/>
            <a:r>
              <a:t>threat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606040"/>
            <a:ext cx="274320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28016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ZONE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889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Context minimization, schema</a:t>
            </a:r>
            <a:br/>
            <a:r>
              <a:t>filtering, least-privilege</a:t>
            </a:r>
            <a:br/>
            <a:r>
              <a:t>data exposure to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566160"/>
            <a:ext cx="274320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280160" cy="777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ZONE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794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POST-MODEL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4903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3-gate SQL validation,</a:t>
            </a:r>
            <a:br/>
            <a:r>
              <a:t>hallucination detection,</a:t>
            </a:r>
            <a:br/>
            <a:r>
              <a:t>auto-masking &amp; rewriting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526279"/>
            <a:ext cx="274320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28016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ZONE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7091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Circuit breaker, read-only</a:t>
            </a:r>
            <a:br/>
            <a:r>
              <a:t>enforcement, connection</a:t>
            </a:r>
            <a:br/>
            <a:r>
              <a:t>pooling, query timeout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486400"/>
            <a:ext cx="274320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280160" cy="77724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ZONE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CONTINUOUS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692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Immutable audit trail,</a:t>
            </a:r>
            <a:br/>
            <a:r>
              <a:t>anomaly detection, compliance</a:t>
            </a:r>
            <a:br/>
            <a:r>
              <a:t>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ZONE 1: PRE-MODEL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Threat Detection Before AI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40"/>
              </a:lnSpc>
              <a:spcAft>
                <a:spcPts val="0"/>
              </a:spcAft>
              <a:defRPr sz="7200" b="1">
                <a:solidFill>
                  <a:srgbClr val="EF4444"/>
                </a:solidFill>
                <a:latin typeface="Calibri"/>
              </a:defRPr>
            </a:pPr>
            <a:r>
              <a:t>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Attack patterns scanned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737360"/>
            <a:ext cx="3474720" cy="960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Direct Override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20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"Forget your instructions"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474720" cy="960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SQL Fragments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828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31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UNION SELECT, DROP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880360"/>
            <a:ext cx="3474720" cy="960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Encoding Bypass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71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6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Hex, Unicode, URL encoding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80360"/>
            <a:ext cx="3474720" cy="960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Indirect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971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20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Social engineering, urgency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023360"/>
            <a:ext cx="3474720" cy="960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Unicode Bypass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7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Zero-width chars, RTL override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023360"/>
            <a:ext cx="3474720" cy="960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Prompt Leaking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10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"Show me your prompt"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5166360"/>
            <a:ext cx="3474720" cy="960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CoT Manipulation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257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8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623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Reasoning-path hijacking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5166360"/>
            <a:ext cx="3474720" cy="960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Delimiter Injection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5257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Multi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623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ChatML, Llama tag injection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3C5FD"/>
                </a:solidFill>
                <a:latin typeface="Calibri"/>
              </a:defRPr>
            </a:pPr>
            <a:r>
              <a:t>Also includes: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749039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Schema probing detection (24h sliding window)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Behavioral fingerprinting (30-day user profiles)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Employment status verification (terminated = blocked)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Weighted threat classification (CRITICAL → NONE)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ZONES 2 &amp; 3: MODEL BOUNDARY + POST-MODEL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Guardrails: Control, Validate, Rewrite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59E0B"/>
                </a:solidFill>
                <a:latin typeface="Calibri"/>
              </a:defRPr>
            </a:pPr>
            <a:r>
              <a:t>Context Minimization (Zone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 AI only sees tables &amp; columns the user's role permits</a:t>
            </a:r>
          </a:p>
          <a:p>
            <a:pPr algn="l">
              <a:lnSpc>
                <a:spcPts val="2380"/>
              </a:lnSpc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 HIDDEN columns completely omitted from schema (zero leakage)</a:t>
            </a:r>
          </a:p>
          <a:p>
            <a:pPr algn="l">
              <a:lnSpc>
                <a:spcPts val="2380"/>
              </a:lnSpc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 Row-filter rules injected as natural language constraints</a:t>
            </a:r>
          </a:p>
          <a:p>
            <a:pPr algn="l">
              <a:lnSpc>
                <a:spcPts val="2380"/>
              </a:lnSpc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 Dialect-specific hints (MySQL 8.0 / PostgreSQL 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3-Gate SQL Validation (Zone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029200" cy="91440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1: Structural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Table &amp; column authorization,</a:t>
            </a:r>
            <a:br/>
            <a:r>
              <a:t>subquery depth, stacked query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5029200" cy="91440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2: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Sensitivity levels (L1-L5) vs clearance,</a:t>
            </a:r>
            <a:br/>
            <a:r>
              <a:t>PII in aggregates, unmasked sensitive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5029200" cy="91440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3: Behavioral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Write operations, UNION exfiltration,</a:t>
            </a:r>
            <a:br/>
            <a:r>
              <a:t>system table access, privilege escalation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329184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✔  Hallucination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Catches fabricated table &amp;</a:t>
            </a:r>
            <a:br/>
            <a:r>
              <a:t>column names in AI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5303520"/>
            <a:ext cx="329184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✔  Auto-Masking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760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PII automatically masked:</a:t>
            </a:r>
            <a:br/>
            <a:r>
              <a:t>first initial, year-only, SHA-256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5303520"/>
            <a:ext cx="3291840" cy="10972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✔  Row-Filter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760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Mandatory WHERE clauses</a:t>
            </a:r>
            <a:br/>
            <a:r>
              <a:t>auto-injected per role policy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Role-Based Access Control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3B82F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10B98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Clearance</a:t>
            </a:r>
            <a:br/>
            <a:r>
              <a:t>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59E0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Data</a:t>
            </a:r>
            <a:br/>
            <a:r>
              <a:t>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EF44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Visibility</a:t>
            </a:r>
            <a:br/>
            <a:r>
              <a:t>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93C5FD"/>
                </a:solidFill>
                <a:latin typeface="Calibri"/>
              </a:defRPr>
            </a:pPr>
            <a:r>
              <a:t>Same Query, Different Results: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27432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Column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383280"/>
            <a:ext cx="237744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Nurse (L2)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237744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Physician (L3)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383280"/>
            <a:ext cx="237744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Attending (L4)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274320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patient_id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88620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8620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388620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27432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first_name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389120"/>
            <a:ext cx="237744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59E0B"/>
                </a:solidFill>
                <a:latin typeface="Calibri"/>
              </a:defRPr>
            </a:pPr>
            <a:r>
              <a:t>MASKED  (R***)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389120"/>
            <a:ext cx="237744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4389120"/>
            <a:ext cx="237744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92040"/>
            <a:ext cx="274320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aadhaar_number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89204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4444"/>
                </a:solidFill>
                <a:latin typeface="Calibri"/>
              </a:defRPr>
            </a:pPr>
            <a:r>
              <a:t>HIDDEN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9204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4444"/>
                </a:solidFill>
                <a:latin typeface="Calibri"/>
              </a:defRPr>
            </a:pPr>
            <a:r>
              <a:t>HIDDEN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489204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94960"/>
            <a:ext cx="27432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date_of_birth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5394960"/>
            <a:ext cx="237744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4444"/>
                </a:solidFill>
                <a:latin typeface="Calibri"/>
              </a:defRPr>
            </a:pPr>
            <a:r>
              <a:t>HIDDEN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394960"/>
            <a:ext cx="237744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5394960"/>
            <a:ext cx="237744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VISIBLE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897880"/>
            <a:ext cx="274320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hiv_status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589788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4444"/>
                </a:solidFill>
                <a:latin typeface="Calibri"/>
              </a:defRPr>
            </a:pPr>
            <a:r>
              <a:t>HIDDEN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89788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4444"/>
                </a:solidFill>
                <a:latin typeface="Calibri"/>
              </a:defRPr>
            </a:pPr>
            <a:r>
              <a:t>HIDDEN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5897880"/>
            <a:ext cx="2377440" cy="4114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4444"/>
                </a:solidFill>
                <a:latin typeface="Calibri"/>
              </a:defRPr>
            </a:pPr>
            <a:r>
              <a:t>HIDDEN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Multi-Database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2103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ApolloHIS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MySQL 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12 tables  |  Clinical &amp; 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patients, encounters, vital_signs,</a:t>
            </a:r>
            <a:br/>
            <a:r>
              <a:t>lab_results, prescriptions, allergies,</a:t>
            </a:r>
            <a:br/>
            <a:r>
              <a:t>appointments, clinical_notes...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5303520" cy="2103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EC4899"/>
                </a:solidFill>
                <a:latin typeface="Calibri"/>
              </a:defRPr>
            </a:pPr>
            <a:r>
              <a:t>ApolloHR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MySQL 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5 tables  |  Human 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6974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employees, payroll, leave_records,</a:t>
            </a:r>
            <a:br/>
            <a:r>
              <a:t>certifications, credentials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303520" cy="2103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0B981"/>
                </a:solidFill>
                <a:latin typeface="Calibri"/>
              </a:defRPr>
            </a:pPr>
            <a:r>
              <a:t>apollo_financial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6 tables  |  Financial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claims, claim_line_items,</a:t>
            </a:r>
            <a:br/>
            <a:r>
              <a:t>insurance_plans, patient_billing,</a:t>
            </a:r>
            <a:br/>
            <a:r>
              <a:t>payer_contracts, 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206240"/>
            <a:ext cx="5303520" cy="21031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93C5FD"/>
                </a:solidFill>
                <a:latin typeface="Calibri"/>
              </a:defRPr>
            </a:pPr>
            <a:r>
              <a:t>apollo_analytics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4 tables  | 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0749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encounter_summaries,</a:t>
            </a:r>
            <a:br/>
            <a:r>
              <a:t>population_health, quality_metrics,</a:t>
            </a:r>
            <a:br/>
            <a:r>
              <a:t>research_cohorts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6400800"/>
            <a:ext cx="3017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27 tables across 4 databases  |  Automatic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7 Regulatory Frameworks, One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HIPAA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B82F6"/>
                </a:solidFill>
                <a:latin typeface="Calibri"/>
              </a:defRPr>
            </a:pPr>
            <a:r>
              <a:t>45 CFR 164.502-528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PHI access control, disclosure</a:t>
            </a:r>
            <a:br/>
            <a:r>
              <a:t>accounting, de-identification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20116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HIPAA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B82F6"/>
                </a:solidFill>
                <a:latin typeface="Calibri"/>
              </a:defRPr>
            </a:pPr>
            <a:r>
              <a:t>45 CFR 164.312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Access control, audit controls,</a:t>
            </a:r>
            <a:br/>
            <a:r>
              <a:t>integrity, 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20116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42 CFR 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B82F6"/>
                </a:solidFill>
                <a:latin typeface="Calibri"/>
              </a:defRPr>
            </a:pPr>
            <a:r>
              <a:t>Substance Use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Hard block on substance abuse</a:t>
            </a:r>
            <a:br/>
            <a:r>
              <a:t>&amp; psychotherapy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560320" cy="20116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B82F6"/>
                </a:solidFill>
                <a:latin typeface="Calibri"/>
              </a:defRPr>
            </a:pPr>
            <a:r>
              <a:t>Sarbanes-Oxley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Financial report integrity,</a:t>
            </a:r>
            <a:br/>
            <a:r>
              <a:t>immutable audit trail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GDPR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B82F6"/>
                </a:solidFill>
                <a:latin typeface="Calibri"/>
              </a:defRPr>
            </a:pPr>
            <a:r>
              <a:t>EU Data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Data protection by design,</a:t>
            </a:r>
            <a:br/>
            <a:r>
              <a:t>processing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114800"/>
            <a:ext cx="2560320" cy="20116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EU AI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B82F6"/>
                </a:solidFill>
                <a:latin typeface="Calibri"/>
              </a:defRPr>
            </a:pPr>
            <a:r>
              <a:t>High-Risk AI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983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Risk management, transparency,</a:t>
            </a:r>
            <a:br/>
            <a:r>
              <a:t>human oversight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114800"/>
            <a:ext cx="2560320" cy="201168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ISO 42001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B82F6"/>
                </a:solidFill>
                <a:latin typeface="Calibri"/>
              </a:defRPr>
            </a:pPr>
            <a:r>
              <a:t>AI Management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983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Impact assessment, monitoring,</a:t>
            </a:r>
            <a:br/>
            <a:r>
              <a:t>continual improvement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SHA-256 Hash-Chain Audit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080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Tamper-detectable  |  Append-only  |  Every query logged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&lt; 3 seconds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 compliance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EMERGENCY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Break-the-Glass: Controlled Emergency Override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93C5FD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Emergency Declared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Authorized role initiates BTG</a:t>
            </a:r>
            <a:br/>
            <a:r>
              <a:t>with mandatory reason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4-Hour Token Issued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Clearance temporarily elevated</a:t>
            </a:r>
            <a:br/>
            <a:r>
              <a:t>with strict time limit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Every action logged, compliance</a:t>
            </a:r>
            <a:br/>
            <a:r>
              <a:t>officer notified immediately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Auto-Expiration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Access reverts after 4 hours</a:t>
            </a:r>
            <a:br/>
            <a:r>
              <a:t>with mandatory justification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EF4444"/>
                </a:solidFill>
                <a:latin typeface="Calibri"/>
              </a:defRPr>
            </a:pPr>
            <a:r>
              <a:t>Hard Limits (Never Overridable)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68880"/>
            <a:ext cx="4754880" cy="365760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651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59E0B"/>
                </a:solidFill>
                <a:latin typeface="Calibri"/>
              </a:defRPr>
            </a:pPr>
            <a:r>
              <a:t>Even in emergency mode, these are ALWAYS blocked: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✘  Psychotherapy notes (42 CFR Part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✘  Substance abuse records (42 CFR Part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480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✘  HIV status (Federal &amp; State law)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120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✘  Genetic testing data (GINA Act)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486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 exceptions. No overrides.</a:t>
            </a:r>
            <a:br/>
            <a:r>
              <a:t>Patient privacy is absolute.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QueryVault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F4444"/>
                </a:solidFill>
                <a:latin typeface="Calibri"/>
              </a:defRPr>
            </a:pPr>
            <a:r>
              <a:t>212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Attack Patterns</a:t>
            </a:r>
            <a:br/>
            <a:r>
              <a:t>Scanned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3B82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Security</a:t>
            </a:r>
            <a:br/>
            <a:r>
              <a:t>Zones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0B981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RBAC</a:t>
            </a:r>
            <a:br/>
            <a:r>
              <a:t>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Clearance</a:t>
            </a:r>
            <a:br/>
            <a:r>
              <a:t>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01168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93C5FD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Data</a:t>
            </a:r>
            <a:br/>
            <a:r>
              <a:t>Domains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0B981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38912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3B82F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Compliance</a:t>
            </a:r>
            <a:br/>
            <a:r>
              <a:t>Frameworks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38912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F59E0B"/>
                </a:solidFill>
                <a:latin typeface="Calibri"/>
              </a:defRPr>
            </a:pPr>
            <a:r>
              <a:t>&lt; 3s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Report</a:t>
            </a:r>
            <a:br/>
            <a:r>
              <a:t>Generation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38912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Audit</a:t>
            </a:r>
            <a:br/>
            <a:r>
              <a:t>Coverage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4389120"/>
            <a:ext cx="2194560" cy="164592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F4444"/>
                </a:solidFill>
                <a:latin typeface="Calibri"/>
              </a:defRPr>
            </a:pPr>
            <a:r>
              <a:t>4h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BTG Time</a:t>
            </a:r>
            <a:br/>
            <a:r>
              <a:t>Limit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743200"/>
            <a:ext cx="39319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93C5FD"/>
                </a:solidFill>
                <a:latin typeface="Calibri"/>
              </a:defRPr>
            </a:pPr>
            <a:r>
              <a:t>Ready to secure your AI-powered database queries?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2926080" cy="182880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See QueryVault in action</a:t>
            </a:r>
            <a:br/>
            <a:r>
              <a:t>with real hospital scenarios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931920"/>
            <a:ext cx="2926080" cy="182880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Contact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Schedule a consultation</a:t>
            </a:r>
            <a:br/>
            <a:r>
              <a:t>with our security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931920"/>
            <a:ext cx="2926080" cy="1828800"/>
          </a:xfrm>
          <a:prstGeom prst="roundRect">
            <a:avLst/>
          </a:prstGeom>
          <a:solidFill>
            <a:srgbClr val="23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Technical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Deep-dive into our</a:t>
            </a:r>
            <a:br/>
            <a:r>
              <a:t>5-zone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QueryVault  |  Apollo Hospitals  |  AI Query Security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